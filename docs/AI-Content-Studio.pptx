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2b2e57ca-7031-e358-3ecf-afb19038b90c}">
          <p14:sldIdLst>
            <p14:sldId id="256"/>
            <p14:sldId id="257"/>
            <p14:sldId id="258"/>
          </p14:sldIdLst>
        </p14:section>
        <p14:section name="The product" id="{3bacd95a-2fe4-acff-0fb3-2abb3d414017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Under the hood" id="{e8cfc161-c2bb-06f0-d7b4-de25841b51d6}">
          <p14:sldIdLst>
            <p14:sldId id="268"/>
            <p14:sldId id="269"/>
          </p14:sldIdLst>
        </p14:section>
        <p14:section name="Business case" id="{1995a909-86c0-29d9-00ee-ddb77021af5f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is a prototype of a lightweight tool that lets a dealer publish an offer, service special or event page in a few minutes, safely. Everything shown is illustrative: the dealerships are fictional and the claim wording is adapted from published Nissan UK figures but is not approved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these are hypotheses: we have not measured a baseline. The pilot is what turns them into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principle: the AI only proposes. Fixed rules decide whether a page can go live, and a person always clicks Publish.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steps. Stress that the dealer confirms the content type, and that missing details are asked for, never guessed.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start screen is a single question. The dealer can also pick an HQ campaign that is already approved.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Previews are the real public page rendered with the dealer's own words, so there is no gap between what is chosen and what is published.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CMS work is edits, not new pages. Here the offer changes on every page at once, shown as a diff the dealer accepts.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 rules decide. The AI check can only add findings. A finding with a safe fix offers it in one click, for example swapping a comparison for an approved claim with its disclaimer.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live in one place for HQ. The discount limit and the standard terms are settings in the admin, not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 is general: templates built from approved blocks, a gate with rules per type, one-click publish. Offers are first because that is where the money and compliance risk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public page is the same React blocks used in the previews. Expiry is checked on every request, so an offer never shows late even if the clean-up job has not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point for the client: HQ stops reading every page. They see a short list of exceptions.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Payload 3 installs inside the Next.js app. It provides logins, drafts, versions and the API, so we only build what is specific to dealers.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this. It is a prototype to show the idea and the controls. The AI steps run in a rule-based stored mode here, and live Claude has not been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prototype already measures the first three: time from creating a page to live, how many pages needed HQ, and enquiries per dealer. We are not claiming savings until a pilot gives a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incumbent matters most: dealers already have websites, usually on an OEM-approved vendor. The first pilot is campaign and offer pages on a subdomain, which needs no replatform.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idea: dealers move fast, HQ keeps control, and the checks run in the middle.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AI Content Studio  ·  prototype  ·  illustrative content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AI Content Studio  ·  prototype  ·  illustrative content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5486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58521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297680"/>
            <a:ext cx="5486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12801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PROTOTYPE  ·  ILLUSTRATIVE CONTENT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2880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AI Content Studio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033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One-click, rule-checked publishing for Nissan dealers</a:t>
            </a:r>
            <a:endParaRPr lang="en-US" sz="2200" dirty="0"/>
          </a:p>
        </p:txBody>
      </p:sp>
      <p:sp>
        <p:nvSpPr>
          <p:cNvPr id="5" name="Stack note"/>
          <p:cNvSpPr txBox="1"/>
          <p:nvPr/>
        </p:nvSpPr>
        <p:spPr>
          <a:xfrm>
            <a:off x="73152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Built on Payload CMS and Next.js</a:t>
            </a:r>
            <a:endParaRPr lang="en-US" sz="1200" dirty="0"/>
          </a:p>
        </p:txBody>
      </p:sp>
      <p:sp>
        <p:nvSpPr>
          <p:cNvPr id="6" name="Live offer page frame"/>
          <p:cNvSpPr/>
          <p:nvPr/>
        </p:nvSpPr>
        <p:spPr>
          <a:xfrm>
            <a:off x="6519672" y="1536192"/>
            <a:ext cx="5157216" cy="3511296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22000"/>
              </a:srgbClr>
            </a:outerShdw>
          </a:effectLst>
        </p:spPr>
      </p:sp>
      <p:pic>
        <p:nvPicPr>
          <p:cNvPr id="7" name="Live offer page" descr="Live offer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50292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Dealer content has three costs</a:t>
            </a:r>
            <a:endParaRPr lang="en-US" sz="3200" dirty="0"/>
          </a:p>
        </p:txBody>
      </p:sp>
      <p:sp>
        <p:nvSpPr>
          <p:cNvPr id="3" name="Cost card 1"/>
          <p:cNvSpPr/>
          <p:nvPr/>
        </p:nvSpPr>
        <p:spPr>
          <a:xfrm>
            <a:off x="640080" y="1691640"/>
            <a:ext cx="342900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st icon 1 circle"/>
          <p:cNvSpPr/>
          <p:nvPr/>
        </p:nvSpPr>
        <p:spPr>
          <a:xfrm>
            <a:off x="960120" y="19659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Cost icon 1 icon" descr="Cost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160270"/>
            <a:ext cx="388620" cy="388620"/>
          </a:xfrm>
          <a:prstGeom prst="rect">
            <a:avLst/>
          </a:prstGeom>
        </p:spPr>
      </p:pic>
      <p:sp>
        <p:nvSpPr>
          <p:cNvPr id="6" name="Cost title 1"/>
          <p:cNvSpPr txBox="1"/>
          <p:nvPr/>
        </p:nvSpPr>
        <p:spPr>
          <a:xfrm>
            <a:off x="960120" y="2926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Slow</a:t>
            </a:r>
            <a:endParaRPr lang="en-US" sz="2200" dirty="0"/>
          </a:p>
        </p:txBody>
      </p:sp>
      <p:sp>
        <p:nvSpPr>
          <p:cNvPr id="7" name="Cost text 1"/>
          <p:cNvSpPr txBox="1"/>
          <p:nvPr/>
        </p:nvSpPr>
        <p:spPr>
          <a:xfrm>
            <a:off x="960120" y="347472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 simple offer page can take days to brief, build and approve.</a:t>
            </a:r>
            <a:endParaRPr lang="en-US" sz="1800" dirty="0"/>
          </a:p>
        </p:txBody>
      </p:sp>
      <p:sp>
        <p:nvSpPr>
          <p:cNvPr id="8" name="Cost card 2"/>
          <p:cNvSpPr/>
          <p:nvPr/>
        </p:nvSpPr>
        <p:spPr>
          <a:xfrm>
            <a:off x="4297680" y="1691640"/>
            <a:ext cx="342900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ost icon 2 circle"/>
          <p:cNvSpPr/>
          <p:nvPr/>
        </p:nvSpPr>
        <p:spPr>
          <a:xfrm>
            <a:off x="4617720" y="19659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Cost icon 2 icon" descr="Cost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030" y="2160270"/>
            <a:ext cx="388620" cy="388620"/>
          </a:xfrm>
          <a:prstGeom prst="rect">
            <a:avLst/>
          </a:prstGeom>
        </p:spPr>
      </p:pic>
      <p:sp>
        <p:nvSpPr>
          <p:cNvPr id="11" name="Cost title 2"/>
          <p:cNvSpPr txBox="1"/>
          <p:nvPr/>
        </p:nvSpPr>
        <p:spPr>
          <a:xfrm>
            <a:off x="4617720" y="2926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Expensive to check</a:t>
            </a:r>
            <a:endParaRPr lang="en-US" sz="2200" dirty="0"/>
          </a:p>
        </p:txBody>
      </p:sp>
      <p:sp>
        <p:nvSpPr>
          <p:cNvPr id="12" name="Cost text 2"/>
          <p:cNvSpPr txBox="1"/>
          <p:nvPr/>
        </p:nvSpPr>
        <p:spPr>
          <a:xfrm>
            <a:off x="4617720" y="347472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HQ reads every page, so review becomes the bottleneck.</a:t>
            </a:r>
            <a:endParaRPr lang="en-US" sz="1800" dirty="0"/>
          </a:p>
        </p:txBody>
      </p:sp>
      <p:sp>
        <p:nvSpPr>
          <p:cNvPr id="13" name="Cost card 3"/>
          <p:cNvSpPr/>
          <p:nvPr/>
        </p:nvSpPr>
        <p:spPr>
          <a:xfrm>
            <a:off x="7955280" y="1691640"/>
            <a:ext cx="342900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ost icon 3 circle"/>
          <p:cNvSpPr/>
          <p:nvPr/>
        </p:nvSpPr>
        <p:spPr>
          <a:xfrm>
            <a:off x="8275320" y="19659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Cost icon 3 icon" descr="Cost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630" y="2160270"/>
            <a:ext cx="388620" cy="388620"/>
          </a:xfrm>
          <a:prstGeom prst="rect">
            <a:avLst/>
          </a:prstGeom>
        </p:spPr>
      </p:pic>
      <p:sp>
        <p:nvSpPr>
          <p:cNvPr id="16" name="Cost title 3"/>
          <p:cNvSpPr txBox="1"/>
          <p:nvPr/>
        </p:nvSpPr>
        <p:spPr>
          <a:xfrm>
            <a:off x="8275320" y="2926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Risky</a:t>
            </a:r>
            <a:endParaRPr lang="en-US" sz="2200" dirty="0"/>
          </a:p>
        </p:txBody>
      </p:sp>
      <p:sp>
        <p:nvSpPr>
          <p:cNvPr id="17" name="Cost text 3"/>
          <p:cNvSpPr txBox="1"/>
          <p:nvPr/>
        </p:nvSpPr>
        <p:spPr>
          <a:xfrm>
            <a:off x="8275320" y="347472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One unapproved claim, or an offer that runs on past its end date, is a compliance problem.</a:t>
            </a:r>
            <a:endParaRPr lang="en-US" sz="1800" dirty="0"/>
          </a:p>
        </p:txBody>
      </p:sp>
      <p:sp>
        <p:nvSpPr>
          <p:cNvPr id="18" name="Caveat"/>
          <p:cNvSpPr txBox="1"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These are hypotheses to baseline in a pilot, not measured results.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Dealers say it. HQ sets the rules. Checks run in the middle</a:t>
            </a:r>
            <a:endParaRPr lang="en-US" sz="3200" dirty="0"/>
          </a:p>
        </p:txBody>
      </p:sp>
      <p:sp>
        <p:nvSpPr>
          <p:cNvPr id="3" name="Idea card 1"/>
          <p:cNvSpPr/>
          <p:nvPr/>
        </p:nvSpPr>
        <p:spPr>
          <a:xfrm>
            <a:off x="640080" y="1737360"/>
            <a:ext cx="3291840" cy="3154680"/>
          </a:xfrm>
          <a:prstGeom prst="roundRect">
            <a:avLst>
              <a:gd name="adj" fmla="val 289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Idea icon 1 circle"/>
          <p:cNvSpPr/>
          <p:nvPr/>
        </p:nvSpPr>
        <p:spPr>
          <a:xfrm>
            <a:off x="960120" y="20116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dea icon 1 icon" descr="Idea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205990"/>
            <a:ext cx="388620" cy="388620"/>
          </a:xfrm>
          <a:prstGeom prst="rect">
            <a:avLst/>
          </a:prstGeom>
        </p:spPr>
      </p:pic>
      <p:sp>
        <p:nvSpPr>
          <p:cNvPr id="6" name="Idea title 1"/>
          <p:cNvSpPr txBox="1"/>
          <p:nvPr/>
        </p:nvSpPr>
        <p:spPr>
          <a:xfrm>
            <a:off x="960120" y="2971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Dealer</a:t>
            </a:r>
            <a:endParaRPr lang="en-US" sz="2200" dirty="0"/>
          </a:p>
        </p:txBody>
      </p:sp>
      <p:sp>
        <p:nvSpPr>
          <p:cNvPr id="7" name="Idea text 1"/>
          <p:cNvSpPr txBox="1"/>
          <p:nvPr/>
        </p:nvSpPr>
        <p:spPr>
          <a:xfrm>
            <a:off x="960120" y="352044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Says what they want to publish, in plain words, and picks one of three designs.</a:t>
            </a:r>
            <a:endParaRPr lang="en-US" sz="1600" dirty="0"/>
          </a:p>
        </p:txBody>
      </p:sp>
      <p:sp>
        <p:nvSpPr>
          <p:cNvPr id="8" name="Arrow 1"/>
          <p:cNvSpPr txBox="1"/>
          <p:nvPr/>
        </p:nvSpPr>
        <p:spPr>
          <a:xfrm>
            <a:off x="3950208" y="28346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›</a:t>
            </a:r>
            <a:endParaRPr lang="en-US" sz="4000" dirty="0"/>
          </a:p>
        </p:txBody>
      </p:sp>
      <p:sp>
        <p:nvSpPr>
          <p:cNvPr id="9" name="Idea card 2"/>
          <p:cNvSpPr/>
          <p:nvPr/>
        </p:nvSpPr>
        <p:spPr>
          <a:xfrm>
            <a:off x="4434840" y="1737360"/>
            <a:ext cx="3291840" cy="3154680"/>
          </a:xfrm>
          <a:prstGeom prst="roundRect">
            <a:avLst>
              <a:gd name="adj" fmla="val 289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Idea icon 2 circle"/>
          <p:cNvSpPr/>
          <p:nvPr/>
        </p:nvSpPr>
        <p:spPr>
          <a:xfrm>
            <a:off x="4754880" y="20116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dea icon 2 icon" descr="Idea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190" y="2205990"/>
            <a:ext cx="388620" cy="388620"/>
          </a:xfrm>
          <a:prstGeom prst="rect">
            <a:avLst/>
          </a:prstGeom>
        </p:spPr>
      </p:pic>
      <p:sp>
        <p:nvSpPr>
          <p:cNvPr id="12" name="Idea title 2"/>
          <p:cNvSpPr txBox="1"/>
          <p:nvPr/>
        </p:nvSpPr>
        <p:spPr>
          <a:xfrm>
            <a:off x="4754880" y="2971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Pre-flight</a:t>
            </a:r>
            <a:endParaRPr lang="en-US" sz="2200" dirty="0"/>
          </a:p>
        </p:txBody>
      </p:sp>
      <p:sp>
        <p:nvSpPr>
          <p:cNvPr id="13" name="Idea text 2"/>
          <p:cNvSpPr txBox="1"/>
          <p:nvPr/>
        </p:nvSpPr>
        <p:spPr>
          <a:xfrm>
            <a:off x="4754880" y="352044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Approved claims, offer rules, a discount limit and standard terms. Clean pages go live.</a:t>
            </a:r>
            <a:endParaRPr lang="en-US" sz="1600" dirty="0"/>
          </a:p>
        </p:txBody>
      </p:sp>
      <p:sp>
        <p:nvSpPr>
          <p:cNvPr id="14" name="Arrow 2"/>
          <p:cNvSpPr txBox="1"/>
          <p:nvPr/>
        </p:nvSpPr>
        <p:spPr>
          <a:xfrm>
            <a:off x="7744968" y="28346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›</a:t>
            </a:r>
            <a:endParaRPr lang="en-US" sz="4000" dirty="0"/>
          </a:p>
        </p:txBody>
      </p:sp>
      <p:sp>
        <p:nvSpPr>
          <p:cNvPr id="15" name="Idea card 3"/>
          <p:cNvSpPr/>
          <p:nvPr/>
        </p:nvSpPr>
        <p:spPr>
          <a:xfrm>
            <a:off x="8229600" y="1737360"/>
            <a:ext cx="3291840" cy="3154680"/>
          </a:xfrm>
          <a:prstGeom prst="roundRect">
            <a:avLst>
              <a:gd name="adj" fmla="val 289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Idea icon 3 circle"/>
          <p:cNvSpPr/>
          <p:nvPr/>
        </p:nvSpPr>
        <p:spPr>
          <a:xfrm>
            <a:off x="8549640" y="20116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dea icon 3 icon" descr="Idea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50" y="2205990"/>
            <a:ext cx="388620" cy="388620"/>
          </a:xfrm>
          <a:prstGeom prst="rect">
            <a:avLst/>
          </a:prstGeom>
        </p:spPr>
      </p:pic>
      <p:sp>
        <p:nvSpPr>
          <p:cNvPr id="18" name="Idea title 3"/>
          <p:cNvSpPr txBox="1"/>
          <p:nvPr/>
        </p:nvSpPr>
        <p:spPr>
          <a:xfrm>
            <a:off x="8549640" y="2971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HQ</a:t>
            </a:r>
            <a:endParaRPr lang="en-US" sz="2200" dirty="0"/>
          </a:p>
        </p:txBody>
      </p:sp>
      <p:sp>
        <p:nvSpPr>
          <p:cNvPr id="19" name="Idea text 3"/>
          <p:cNvSpPr txBox="1"/>
          <p:nvPr/>
        </p:nvSpPr>
        <p:spPr>
          <a:xfrm>
            <a:off x="8549640" y="352044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Sets the rules once. Sees only the exceptions that need a person.</a:t>
            </a:r>
            <a:endParaRPr lang="en-US" sz="1600" dirty="0"/>
          </a:p>
        </p:txBody>
      </p:sp>
      <p:sp>
        <p:nvSpPr>
          <p:cNvPr id="20" name="Principle"/>
          <p:cNvSpPr txBox="1"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The AI proposes. Code decides. A person clicks.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a sentence to a live page in six steps</a:t>
            </a:r>
            <a:endParaRPr lang="en-US" sz="3200" dirty="0"/>
          </a:p>
        </p:txBody>
      </p:sp>
      <p:sp>
        <p:nvSpPr>
          <p:cNvPr id="3" name="Connector 1"/>
          <p:cNvSpPr/>
          <p:nvPr/>
        </p:nvSpPr>
        <p:spPr>
          <a:xfrm>
            <a:off x="1353312" y="2331720"/>
            <a:ext cx="111556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4" name="Step circle 1"/>
          <p:cNvSpPr/>
          <p:nvPr/>
        </p:nvSpPr>
        <p:spPr>
          <a:xfrm>
            <a:off x="640080" y="19659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6400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Step title 1"/>
          <p:cNvSpPr txBox="1"/>
          <p:nvPr/>
        </p:nvSpPr>
        <p:spPr>
          <a:xfrm>
            <a:off x="640080" y="29260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Say it</a:t>
            </a:r>
            <a:endParaRPr lang="en-US" sz="1800" dirty="0"/>
          </a:p>
        </p:txBody>
      </p:sp>
      <p:sp>
        <p:nvSpPr>
          <p:cNvPr id="7" name="Step text 1"/>
          <p:cNvSpPr txBox="1"/>
          <p:nvPr/>
        </p:nvSpPr>
        <p:spPr>
          <a:xfrm>
            <a:off x="640080" y="3383280"/>
            <a:ext cx="1673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 plain words, any allowed type</a:t>
            </a:r>
            <a:endParaRPr lang="en-US" sz="1400" dirty="0"/>
          </a:p>
        </p:txBody>
      </p:sp>
      <p:sp>
        <p:nvSpPr>
          <p:cNvPr id="8" name="Connector 2"/>
          <p:cNvSpPr/>
          <p:nvPr/>
        </p:nvSpPr>
        <p:spPr>
          <a:xfrm>
            <a:off x="3182112" y="2331720"/>
            <a:ext cx="111556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9" name="Step circle 2"/>
          <p:cNvSpPr/>
          <p:nvPr/>
        </p:nvSpPr>
        <p:spPr>
          <a:xfrm>
            <a:off x="2468880" y="19659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tep number 2"/>
          <p:cNvSpPr txBox="1"/>
          <p:nvPr/>
        </p:nvSpPr>
        <p:spPr>
          <a:xfrm>
            <a:off x="24688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Step title 2"/>
          <p:cNvSpPr txBox="1"/>
          <p:nvPr/>
        </p:nvSpPr>
        <p:spPr>
          <a:xfrm>
            <a:off x="2468880" y="29260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We understand</a:t>
            </a:r>
            <a:endParaRPr lang="en-US" sz="1800" dirty="0"/>
          </a:p>
        </p:txBody>
      </p:sp>
      <p:sp>
        <p:nvSpPr>
          <p:cNvPr id="12" name="Step text 2"/>
          <p:cNvSpPr txBox="1"/>
          <p:nvPr/>
        </p:nvSpPr>
        <p:spPr>
          <a:xfrm>
            <a:off x="2468880" y="3383280"/>
            <a:ext cx="1673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dealer confirms the type</a:t>
            </a:r>
            <a:endParaRPr lang="en-US" sz="1400" dirty="0"/>
          </a:p>
        </p:txBody>
      </p:sp>
      <p:sp>
        <p:nvSpPr>
          <p:cNvPr id="13" name="Connector 3"/>
          <p:cNvSpPr/>
          <p:nvPr/>
        </p:nvSpPr>
        <p:spPr>
          <a:xfrm>
            <a:off x="5010912" y="2331720"/>
            <a:ext cx="111556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4" name="Step circle 3"/>
          <p:cNvSpPr/>
          <p:nvPr/>
        </p:nvSpPr>
        <p:spPr>
          <a:xfrm>
            <a:off x="4297680" y="19659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tep number 3"/>
          <p:cNvSpPr txBox="1"/>
          <p:nvPr/>
        </p:nvSpPr>
        <p:spPr>
          <a:xfrm>
            <a:off x="42976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Step title 3"/>
          <p:cNvSpPr txBox="1"/>
          <p:nvPr/>
        </p:nvSpPr>
        <p:spPr>
          <a:xfrm>
            <a:off x="4297680" y="29260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Pick a design</a:t>
            </a:r>
            <a:endParaRPr lang="en-US" sz="1800" dirty="0"/>
          </a:p>
        </p:txBody>
      </p:sp>
      <p:sp>
        <p:nvSpPr>
          <p:cNvPr id="17" name="Step text 3"/>
          <p:cNvSpPr txBox="1"/>
          <p:nvPr/>
        </p:nvSpPr>
        <p:spPr>
          <a:xfrm>
            <a:off x="4297680" y="3383280"/>
            <a:ext cx="1673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Three live previews</a:t>
            </a:r>
            <a:endParaRPr lang="en-US" sz="1400" dirty="0"/>
          </a:p>
        </p:txBody>
      </p:sp>
      <p:sp>
        <p:nvSpPr>
          <p:cNvPr id="18" name="Connector 4"/>
          <p:cNvSpPr/>
          <p:nvPr/>
        </p:nvSpPr>
        <p:spPr>
          <a:xfrm>
            <a:off x="6839712" y="2331720"/>
            <a:ext cx="111556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9" name="Step circle 4"/>
          <p:cNvSpPr/>
          <p:nvPr/>
        </p:nvSpPr>
        <p:spPr>
          <a:xfrm>
            <a:off x="6126480" y="19659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tep number 4"/>
          <p:cNvSpPr txBox="1"/>
          <p:nvPr/>
        </p:nvSpPr>
        <p:spPr>
          <a:xfrm>
            <a:off x="61264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21" name="Step title 4"/>
          <p:cNvSpPr txBox="1"/>
          <p:nvPr/>
        </p:nvSpPr>
        <p:spPr>
          <a:xfrm>
            <a:off x="6126480" y="29260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Fill the gaps</a:t>
            </a:r>
            <a:endParaRPr lang="en-US" sz="1800" dirty="0"/>
          </a:p>
        </p:txBody>
      </p:sp>
      <p:sp>
        <p:nvSpPr>
          <p:cNvPr id="22" name="Step text 4"/>
          <p:cNvSpPr txBox="1"/>
          <p:nvPr/>
        </p:nvSpPr>
        <p:spPr>
          <a:xfrm>
            <a:off x="6126480" y="3383280"/>
            <a:ext cx="1673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Only what is missing</a:t>
            </a:r>
            <a:endParaRPr lang="en-US" sz="1400" dirty="0"/>
          </a:p>
        </p:txBody>
      </p:sp>
      <p:sp>
        <p:nvSpPr>
          <p:cNvPr id="23" name="Connector 5"/>
          <p:cNvSpPr/>
          <p:nvPr/>
        </p:nvSpPr>
        <p:spPr>
          <a:xfrm>
            <a:off x="8668512" y="2331720"/>
            <a:ext cx="111556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24" name="Step circle 5"/>
          <p:cNvSpPr/>
          <p:nvPr/>
        </p:nvSpPr>
        <p:spPr>
          <a:xfrm>
            <a:off x="7955280" y="19659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tep number 5"/>
          <p:cNvSpPr txBox="1"/>
          <p:nvPr/>
        </p:nvSpPr>
        <p:spPr>
          <a:xfrm>
            <a:off x="79552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en-US" sz="2400" dirty="0"/>
          </a:p>
        </p:txBody>
      </p:sp>
      <p:sp>
        <p:nvSpPr>
          <p:cNvPr id="26" name="Step title 5"/>
          <p:cNvSpPr txBox="1"/>
          <p:nvPr/>
        </p:nvSpPr>
        <p:spPr>
          <a:xfrm>
            <a:off x="7955280" y="29260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Pre-flight</a:t>
            </a:r>
            <a:endParaRPr lang="en-US" sz="1800" dirty="0"/>
          </a:p>
        </p:txBody>
      </p:sp>
      <p:sp>
        <p:nvSpPr>
          <p:cNvPr id="27" name="Step text 5"/>
          <p:cNvSpPr txBox="1"/>
          <p:nvPr/>
        </p:nvSpPr>
        <p:spPr>
          <a:xfrm>
            <a:off x="7955280" y="3383280"/>
            <a:ext cx="1673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Rules decide, not the AI</a:t>
            </a:r>
            <a:endParaRPr lang="en-US" sz="1400" dirty="0"/>
          </a:p>
        </p:txBody>
      </p:sp>
      <p:sp>
        <p:nvSpPr>
          <p:cNvPr id="28" name="Step circle 6"/>
          <p:cNvSpPr/>
          <p:nvPr/>
        </p:nvSpPr>
        <p:spPr>
          <a:xfrm>
            <a:off x="9784080" y="19659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Step number 6"/>
          <p:cNvSpPr txBox="1"/>
          <p:nvPr/>
        </p:nvSpPr>
        <p:spPr>
          <a:xfrm>
            <a:off x="97840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6</a:t>
            </a:r>
            <a:endParaRPr lang="en-US" sz="2400" dirty="0"/>
          </a:p>
        </p:txBody>
      </p:sp>
      <p:sp>
        <p:nvSpPr>
          <p:cNvPr id="30" name="Step title 6"/>
          <p:cNvSpPr txBox="1"/>
          <p:nvPr/>
        </p:nvSpPr>
        <p:spPr>
          <a:xfrm>
            <a:off x="9784080" y="29260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Publish</a:t>
            </a:r>
            <a:endParaRPr lang="en-US" sz="1800" dirty="0"/>
          </a:p>
        </p:txBody>
      </p:sp>
      <p:sp>
        <p:nvSpPr>
          <p:cNvPr id="31" name="Step text 6"/>
          <p:cNvSpPr txBox="1"/>
          <p:nvPr/>
        </p:nvSpPr>
        <p:spPr>
          <a:xfrm>
            <a:off x="9784080" y="3383280"/>
            <a:ext cx="1673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click, with undo</a:t>
            </a:r>
            <a:endParaRPr lang="en-US" sz="1400" dirty="0"/>
          </a:p>
        </p:txBody>
      </p:sp>
      <p:sp>
        <p:nvSpPr>
          <p:cNvPr id="32" name="Principle panel"/>
          <p:cNvSpPr/>
          <p:nvPr/>
        </p:nvSpPr>
        <p:spPr>
          <a:xfrm>
            <a:off x="640080" y="4526280"/>
            <a:ext cx="10881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Principle title"/>
          <p:cNvSpPr txBox="1"/>
          <p:nvPr/>
        </p:nvSpPr>
        <p:spPr>
          <a:xfrm>
            <a:off x="1005840" y="47091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The AI never publishes.</a:t>
            </a:r>
            <a:endParaRPr lang="en-US" sz="2400" dirty="0"/>
          </a:p>
        </p:txBody>
      </p:sp>
      <p:sp>
        <p:nvSpPr>
          <p:cNvPr id="34" name="Principle text"/>
          <p:cNvSpPr txBox="1"/>
          <p:nvPr/>
        </p:nvSpPr>
        <p:spPr>
          <a:xfrm>
            <a:off x="1005840" y="5257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Every AI change is a draft until the dealer clicks Publish, and the checks decide whether that click works.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dealer starts with one question</a:t>
            </a:r>
            <a:endParaRPr lang="en-US" sz="3200" dirty="0"/>
          </a:p>
        </p:txBody>
      </p:sp>
      <p:sp>
        <p:nvSpPr>
          <p:cNvPr id="3" name="Dealer start screen frame"/>
          <p:cNvSpPr/>
          <p:nvPr/>
        </p:nvSpPr>
        <p:spPr>
          <a:xfrm>
            <a:off x="576072" y="1581912"/>
            <a:ext cx="6803136" cy="4059936"/>
          </a:xfrm>
          <a:prstGeom prst="roundRect">
            <a:avLst>
              <a:gd name="adj" fmla="val 180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22000"/>
              </a:srgbClr>
            </a:outerShdw>
          </a:effectLst>
        </p:spPr>
      </p:sp>
      <p:pic>
        <p:nvPicPr>
          <p:cNvPr id="4" name="Dealer start screen" descr="Dealer start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6675120" cy="3931920"/>
          </a:xfrm>
          <a:prstGeom prst="rect">
            <a:avLst/>
          </a:prstGeom>
        </p:spPr>
      </p:pic>
      <p:sp>
        <p:nvSpPr>
          <p:cNvPr id="5" name="Point title 1"/>
          <p:cNvSpPr txBox="1"/>
          <p:nvPr/>
        </p:nvSpPr>
        <p:spPr>
          <a:xfrm>
            <a:off x="772668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Plain words</a:t>
            </a:r>
            <a:endParaRPr lang="en-US" sz="1800" dirty="0"/>
          </a:p>
        </p:txBody>
      </p:sp>
      <p:sp>
        <p:nvSpPr>
          <p:cNvPr id="6" name="Point text 1"/>
          <p:cNvSpPr txBox="1"/>
          <p:nvPr/>
        </p:nvSpPr>
        <p:spPr>
          <a:xfrm>
            <a:off x="7726680" y="21488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Any content HQ allows: an offer, a service special, an event.</a:t>
            </a:r>
            <a:endParaRPr lang="en-US" sz="1600" dirty="0"/>
          </a:p>
        </p:txBody>
      </p:sp>
      <p:sp>
        <p:nvSpPr>
          <p:cNvPr id="7" name="Point title 2"/>
          <p:cNvSpPr txBox="1"/>
          <p:nvPr/>
        </p:nvSpPr>
        <p:spPr>
          <a:xfrm>
            <a:off x="772668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We show what we understood</a:t>
            </a:r>
            <a:endParaRPr lang="en-US" sz="1800" dirty="0"/>
          </a:p>
        </p:txBody>
      </p:sp>
      <p:sp>
        <p:nvSpPr>
          <p:cNvPr id="8" name="Point text 2"/>
          <p:cNvSpPr txBox="1"/>
          <p:nvPr/>
        </p:nvSpPr>
        <p:spPr>
          <a:xfrm>
            <a:off x="7726680" y="36576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dealer confirms the type before anything is built.</a:t>
            </a:r>
            <a:endParaRPr lang="en-US" sz="1600" dirty="0"/>
          </a:p>
        </p:txBody>
      </p:sp>
      <p:sp>
        <p:nvSpPr>
          <p:cNvPr id="9" name="Point title 3"/>
          <p:cNvSpPr txBox="1"/>
          <p:nvPr/>
        </p:nvSpPr>
        <p:spPr>
          <a:xfrm>
            <a:off x="7726680" y="4709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Nothing invented</a:t>
            </a:r>
            <a:endParaRPr lang="en-US" sz="1800" dirty="0"/>
          </a:p>
        </p:txBody>
      </p:sp>
      <p:sp>
        <p:nvSpPr>
          <p:cNvPr id="10" name="Point text 3"/>
          <p:cNvSpPr txBox="1"/>
          <p:nvPr/>
        </p:nvSpPr>
        <p:spPr>
          <a:xfrm>
            <a:off x="7726680" y="51663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Amounts, dates and places come only from what the dealer wrote.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real previews, not template names</a:t>
            </a:r>
            <a:endParaRPr lang="en-US" sz="3200" dirty="0"/>
          </a:p>
        </p:txBody>
      </p:sp>
      <p:sp>
        <p:nvSpPr>
          <p:cNvPr id="3" name="Template previews frame"/>
          <p:cNvSpPr/>
          <p:nvPr/>
        </p:nvSpPr>
        <p:spPr>
          <a:xfrm>
            <a:off x="576072" y="1490472"/>
            <a:ext cx="11009376" cy="3456432"/>
          </a:xfrm>
          <a:prstGeom prst="roundRect">
            <a:avLst>
              <a:gd name="adj" fmla="val 211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22000"/>
              </a:srgbClr>
            </a:outerShdw>
          </a:effectLst>
        </p:spPr>
      </p:sp>
      <p:pic>
        <p:nvPicPr>
          <p:cNvPr id="4" name="Template previews" descr="Template previe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10881360" cy="3328416"/>
          </a:xfrm>
          <a:prstGeom prst="rect">
            <a:avLst/>
          </a:prstGeom>
        </p:spPr>
      </p:pic>
      <p:sp>
        <p:nvSpPr>
          <p:cNvPr id="5" name="Preview caption 1"/>
          <p:cNvSpPr txBox="1"/>
          <p:nvPr/>
        </p:nvSpPr>
        <p:spPr>
          <a:xfrm>
            <a:off x="640080" y="5257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real page: what the dealer picks is what publishes.</a:t>
            </a:r>
            <a:endParaRPr lang="en-US" sz="1600" dirty="0"/>
          </a:p>
        </p:txBody>
      </p:sp>
      <p:sp>
        <p:nvSpPr>
          <p:cNvPr id="6" name="Preview caption 2"/>
          <p:cNvSpPr txBox="1"/>
          <p:nvPr/>
        </p:nvSpPr>
        <p:spPr>
          <a:xfrm>
            <a:off x="4297680" y="5257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Best fit first, with a reason in plain words.</a:t>
            </a:r>
            <a:endParaRPr lang="en-US" sz="1600" dirty="0"/>
          </a:p>
        </p:txBody>
      </p:sp>
      <p:sp>
        <p:nvSpPr>
          <p:cNvPr id="7" name="Preview caption 3"/>
          <p:cNvSpPr txBox="1"/>
          <p:nvPr/>
        </p:nvSpPr>
        <p:spPr>
          <a:xfrm>
            <a:off x="7955280" y="5257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Missing details are flagged amber, never guessed.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Change it everywhere, as a diff</a:t>
            </a:r>
            <a:endParaRPr lang="en-US" sz="3200" dirty="0"/>
          </a:p>
        </p:txBody>
      </p:sp>
      <p:sp>
        <p:nvSpPr>
          <p:cNvPr id="3" name="Edit everywhere diff frame"/>
          <p:cNvSpPr/>
          <p:nvPr/>
        </p:nvSpPr>
        <p:spPr>
          <a:xfrm>
            <a:off x="576072" y="1490472"/>
            <a:ext cx="6437376" cy="4700016"/>
          </a:xfrm>
          <a:prstGeom prst="roundRect">
            <a:avLst>
              <a:gd name="adj" fmla="val 155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22000"/>
              </a:srgbClr>
            </a:outerShdw>
          </a:effectLst>
        </p:spPr>
      </p:sp>
      <p:pic>
        <p:nvPicPr>
          <p:cNvPr id="4" name="Edit everywhere diff" descr="Edit everywhere dif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309360" cy="4572000"/>
          </a:xfrm>
          <a:prstGeom prst="rect">
            <a:avLst/>
          </a:prstGeom>
        </p:spPr>
      </p:pic>
      <p:sp>
        <p:nvSpPr>
          <p:cNvPr id="5" name="Edit points"/>
          <p:cNvSpPr txBox="1"/>
          <p:nvPr/>
        </p:nvSpPr>
        <p:spPr>
          <a:xfrm>
            <a:off x="7406640" y="173736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One instruction covers all of the dealer's pages.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Every change is shown before it is saved.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Accepted changes are saved as drafts: live pages do not change yet.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Publish all, and every page passes through the same gate.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Pre-flight is the gate for the Publish button</a:t>
            </a:r>
            <a:endParaRPr lang="en-US" sz="3200" dirty="0"/>
          </a:p>
        </p:txBody>
      </p:sp>
      <p:sp>
        <p:nvSpPr>
          <p:cNvPr id="3" name="Outcome card 1"/>
          <p:cNvSpPr/>
          <p:nvPr/>
        </p:nvSpPr>
        <p:spPr>
          <a:xfrm>
            <a:off x="640080" y="1554480"/>
            <a:ext cx="63093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Outcome icon 1 circle"/>
          <p:cNvSpPr/>
          <p:nvPr/>
        </p:nvSpPr>
        <p:spPr>
          <a:xfrm>
            <a:off x="914400" y="1874520"/>
            <a:ext cx="685800" cy="6858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Outcome icon 1 icon" descr="Outcome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342900" cy="342900"/>
          </a:xfrm>
          <a:prstGeom prst="rect">
            <a:avLst/>
          </a:prstGeom>
        </p:spPr>
      </p:pic>
      <p:sp>
        <p:nvSpPr>
          <p:cNvPr id="6" name="Outcome title 1"/>
          <p:cNvSpPr txBox="1"/>
          <p:nvPr/>
        </p:nvSpPr>
        <p:spPr>
          <a:xfrm>
            <a:off x="1874520" y="17556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Clean: goes live</a:t>
            </a:r>
            <a:endParaRPr lang="en-US" sz="1800" dirty="0"/>
          </a:p>
        </p:txBody>
      </p:sp>
      <p:sp>
        <p:nvSpPr>
          <p:cNvPr id="7" name="Outcome text 1"/>
          <p:cNvSpPr txBox="1"/>
          <p:nvPr/>
        </p:nvSpPr>
        <p:spPr>
          <a:xfrm>
            <a:off x="1874520" y="217627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findings. One click and the page is live, with undo.</a:t>
            </a:r>
            <a:endParaRPr lang="en-US" sz="1400" dirty="0"/>
          </a:p>
        </p:txBody>
      </p:sp>
      <p:sp>
        <p:nvSpPr>
          <p:cNvPr id="8" name="Outcome card 2"/>
          <p:cNvSpPr/>
          <p:nvPr/>
        </p:nvSpPr>
        <p:spPr>
          <a:xfrm>
            <a:off x="640080" y="3063240"/>
            <a:ext cx="63093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Outcome icon 2 circle"/>
          <p:cNvSpPr/>
          <p:nvPr/>
        </p:nvSpPr>
        <p:spPr>
          <a:xfrm>
            <a:off x="914400" y="33832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Outcome icon 2 icon" descr="Outcome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3554730"/>
            <a:ext cx="342900" cy="342900"/>
          </a:xfrm>
          <a:prstGeom prst="rect">
            <a:avLst/>
          </a:prstGeom>
        </p:spPr>
      </p:pic>
      <p:sp>
        <p:nvSpPr>
          <p:cNvPr id="11" name="Outcome title 2"/>
          <p:cNvSpPr txBox="1"/>
          <p:nvPr/>
        </p:nvSpPr>
        <p:spPr>
          <a:xfrm>
            <a:off x="1874520" y="32644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Critical: blocked, with a one-click fix</a:t>
            </a:r>
            <a:endParaRPr lang="en-US" sz="1800" dirty="0"/>
          </a:p>
        </p:txBody>
      </p:sp>
      <p:sp>
        <p:nvSpPr>
          <p:cNvPr id="12" name="Outcome text 2"/>
          <p:cNvSpPr txBox="1"/>
          <p:nvPr/>
        </p:nvSpPr>
        <p:spPr>
          <a:xfrm>
            <a:off x="1874520" y="36850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 unapproved claim, a missing disclaimer, no end date or a past date.</a:t>
            </a:r>
            <a:endParaRPr lang="en-US" sz="1400" dirty="0"/>
          </a:p>
        </p:txBody>
      </p:sp>
      <p:sp>
        <p:nvSpPr>
          <p:cNvPr id="13" name="Outcome card 3"/>
          <p:cNvSpPr/>
          <p:nvPr/>
        </p:nvSpPr>
        <p:spPr>
          <a:xfrm>
            <a:off x="640080" y="4572000"/>
            <a:ext cx="63093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Outcome icon 3 circle"/>
          <p:cNvSpPr/>
          <p:nvPr/>
        </p:nvSpPr>
        <p:spPr>
          <a:xfrm>
            <a:off x="914400" y="489204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Outcome icon 3 icon" descr="Outcome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5063490"/>
            <a:ext cx="342900" cy="342900"/>
          </a:xfrm>
          <a:prstGeom prst="rect">
            <a:avLst/>
          </a:prstGeom>
        </p:spPr>
      </p:pic>
      <p:sp>
        <p:nvSpPr>
          <p:cNvPr id="16" name="Outcome title 3"/>
          <p:cNvSpPr txBox="1"/>
          <p:nvPr/>
        </p:nvSpPr>
        <p:spPr>
          <a:xfrm>
            <a:off x="1874520" y="47731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Needs HQ: waits for review</a:t>
            </a:r>
            <a:endParaRPr lang="en-US" sz="1800" dirty="0"/>
          </a:p>
        </p:txBody>
      </p:sp>
      <p:sp>
        <p:nvSpPr>
          <p:cNvPr id="17" name="Outcome text 3"/>
          <p:cNvSpPr txBox="1"/>
          <p:nvPr/>
        </p:nvSpPr>
        <p:spPr>
          <a:xfrm>
            <a:off x="1874520" y="51937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discount above £2,000, or finance wording. HQ approves or sends back.</a:t>
            </a:r>
            <a:endParaRPr lang="en-US" sz="1400" dirty="0"/>
          </a:p>
        </p:txBody>
      </p:sp>
      <p:sp>
        <p:nvSpPr>
          <p:cNvPr id="18" name="Blocked state frame"/>
          <p:cNvSpPr/>
          <p:nvPr/>
        </p:nvSpPr>
        <p:spPr>
          <a:xfrm>
            <a:off x="7616952" y="1399032"/>
            <a:ext cx="3968496" cy="4700016"/>
          </a:xfrm>
          <a:prstGeom prst="roundRect">
            <a:avLst>
              <a:gd name="adj" fmla="val 184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22000"/>
              </a:srgbClr>
            </a:outerShdw>
          </a:effectLst>
        </p:spPr>
      </p:sp>
      <p:pic>
        <p:nvPicPr>
          <p:cNvPr id="19" name="Blocked state" descr="Blocked sta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463040"/>
            <a:ext cx="3840480" cy="4572000"/>
          </a:xfrm>
          <a:prstGeom prst="rect">
            <a:avLst/>
          </a:prstGeom>
        </p:spPr>
      </p:pic>
      <p:sp>
        <p:nvSpPr>
          <p:cNvPr id="20" name="Blocked caption"/>
          <p:cNvSpPr txBox="1"/>
          <p:nvPr/>
        </p:nvSpPr>
        <p:spPr>
          <a:xfrm>
            <a:off x="7680960" y="6053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Blocked: an unapproved comparison, with a one-click fix.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HQ controls the rules, not each page</a:t>
            </a:r>
            <a:endParaRPr lang="en-US" sz="3200" dirty="0"/>
          </a:p>
        </p:txBody>
      </p:sp>
      <p:graphicFrame>
        <p:nvGraphicFramePr>
          <p:cNvPr id="10" name="Rul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486400"/>
                <a:gridCol w="3200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Check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it looks for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Outcome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Approved claims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Comparisons and superlatives such as “goes further than…” or “best price”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Blocked; one-click fix where an approved claim exists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Disclaimers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Every approved claim needs its required disclaimer on the page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Blocked; one-click add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End date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Every page needs a future end date, then it switches itself off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Blocked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Standard terms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HQ's small print is on every page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Blocked; one-click add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Discount limit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 offer above £2,000 (one setting)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Sent to HQ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Finance wording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APR, deposit or monthly payments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Sent to HQ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Content type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Offer: amount and model. Service: name and price. Event: date and place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Blocked until complete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Not only offers: anything HQ allows</a:t>
            </a:r>
            <a:endParaRPr lang="en-US" sz="3200" dirty="0"/>
          </a:p>
        </p:txBody>
      </p:sp>
      <p:sp>
        <p:nvSpPr>
          <p:cNvPr id="3" name="Offer page frame"/>
          <p:cNvSpPr/>
          <p:nvPr/>
        </p:nvSpPr>
        <p:spPr>
          <a:xfrm>
            <a:off x="576072" y="1490472"/>
            <a:ext cx="3602736" cy="2459736"/>
          </a:xfrm>
          <a:prstGeom prst="roundRect">
            <a:avLst>
              <a:gd name="adj" fmla="val 297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22000"/>
              </a:srgbClr>
            </a:outerShdw>
          </a:effectLst>
        </p:spPr>
      </p:sp>
      <p:pic>
        <p:nvPicPr>
          <p:cNvPr id="4" name="Offer page" descr="Offer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474720" cy="2331720"/>
          </a:xfrm>
          <a:prstGeom prst="rect">
            <a:avLst/>
          </a:prstGeom>
        </p:spPr>
      </p:pic>
      <p:sp>
        <p:nvSpPr>
          <p:cNvPr id="5" name="Type title 1"/>
          <p:cNvSpPr txBox="1"/>
          <p:nvPr/>
        </p:nvSpPr>
        <p:spPr>
          <a:xfrm>
            <a:off x="640080" y="4160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Offer</a:t>
            </a:r>
            <a:endParaRPr lang="en-US" sz="2000" dirty="0"/>
          </a:p>
        </p:txBody>
      </p:sp>
      <p:sp>
        <p:nvSpPr>
          <p:cNvPr id="6" name="Type text 1"/>
          <p:cNvSpPr txBox="1"/>
          <p:nvPr/>
        </p:nvSpPr>
        <p:spPr>
          <a:xfrm>
            <a:off x="640080" y="4617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Amount, model and end date. Discount limit and comparison checks.</a:t>
            </a:r>
            <a:endParaRPr lang="en-US" sz="1500" dirty="0"/>
          </a:p>
        </p:txBody>
      </p:sp>
      <p:sp>
        <p:nvSpPr>
          <p:cNvPr id="7" name="Service special page frame"/>
          <p:cNvSpPr/>
          <p:nvPr/>
        </p:nvSpPr>
        <p:spPr>
          <a:xfrm>
            <a:off x="4279392" y="1490472"/>
            <a:ext cx="3602736" cy="2459736"/>
          </a:xfrm>
          <a:prstGeom prst="roundRect">
            <a:avLst>
              <a:gd name="adj" fmla="val 297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22000"/>
              </a:srgbClr>
            </a:outerShdw>
          </a:effectLst>
        </p:spPr>
      </p:sp>
      <p:pic>
        <p:nvPicPr>
          <p:cNvPr id="8" name="Service special page" descr="Service special p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554480"/>
            <a:ext cx="3474720" cy="2331720"/>
          </a:xfrm>
          <a:prstGeom prst="rect">
            <a:avLst/>
          </a:prstGeom>
        </p:spPr>
      </p:pic>
      <p:sp>
        <p:nvSpPr>
          <p:cNvPr id="9" name="Type title 2"/>
          <p:cNvSpPr txBox="1"/>
          <p:nvPr/>
        </p:nvSpPr>
        <p:spPr>
          <a:xfrm>
            <a:off x="4343400" y="4160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Service special</a:t>
            </a:r>
            <a:endParaRPr lang="en-US" sz="2000" dirty="0"/>
          </a:p>
        </p:txBody>
      </p:sp>
      <p:sp>
        <p:nvSpPr>
          <p:cNvPr id="10" name="Type text 2"/>
          <p:cNvSpPr txBox="1"/>
          <p:nvPr/>
        </p:nvSpPr>
        <p:spPr>
          <a:xfrm>
            <a:off x="4343400" y="4617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Service, price (or free) and end date, with a booking form.</a:t>
            </a:r>
            <a:endParaRPr lang="en-US" sz="1500" dirty="0"/>
          </a:p>
        </p:txBody>
      </p:sp>
      <p:sp>
        <p:nvSpPr>
          <p:cNvPr id="11" name="Event page frame"/>
          <p:cNvSpPr/>
          <p:nvPr/>
        </p:nvSpPr>
        <p:spPr>
          <a:xfrm>
            <a:off x="7982712" y="1490472"/>
            <a:ext cx="3602736" cy="2459736"/>
          </a:xfrm>
          <a:prstGeom prst="roundRect">
            <a:avLst>
              <a:gd name="adj" fmla="val 297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22000"/>
              </a:srgbClr>
            </a:outerShdw>
          </a:effectLst>
        </p:spPr>
      </p:sp>
      <p:pic>
        <p:nvPicPr>
          <p:cNvPr id="12" name="Event page" descr="Event p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554480"/>
            <a:ext cx="3474720" cy="2331720"/>
          </a:xfrm>
          <a:prstGeom prst="rect">
            <a:avLst/>
          </a:prstGeom>
        </p:spPr>
      </p:pic>
      <p:sp>
        <p:nvSpPr>
          <p:cNvPr id="13" name="Type title 3"/>
          <p:cNvSpPr txBox="1"/>
          <p:nvPr/>
        </p:nvSpPr>
        <p:spPr>
          <a:xfrm>
            <a:off x="8046720" y="4160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Event</a:t>
            </a:r>
            <a:endParaRPr lang="en-US" sz="2000" dirty="0"/>
          </a:p>
        </p:txBody>
      </p:sp>
      <p:sp>
        <p:nvSpPr>
          <p:cNvPr id="14" name="Type text 3"/>
          <p:cNvSpPr txBox="1"/>
          <p:nvPr/>
        </p:nvSpPr>
        <p:spPr>
          <a:xfrm>
            <a:off x="8046720" y="4617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Date, time and place, with a countdown and a reservation form.</a:t>
            </a:r>
            <a:endParaRPr lang="en-US" sz="1500" dirty="0"/>
          </a:p>
        </p:txBody>
      </p:sp>
      <p:sp>
        <p:nvSpPr>
          <p:cNvPr id="15" name="Types note"/>
          <p:cNvSpPr txBox="1"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HQ decides which types exist. The AI can only choose from that list.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goes live</a:t>
            </a:r>
            <a:endParaRPr lang="en-US" sz="3200" dirty="0"/>
          </a:p>
        </p:txBody>
      </p:sp>
      <p:sp>
        <p:nvSpPr>
          <p:cNvPr id="3" name="Live offer page frame"/>
          <p:cNvSpPr/>
          <p:nvPr/>
        </p:nvSpPr>
        <p:spPr>
          <a:xfrm>
            <a:off x="576072" y="1444752"/>
            <a:ext cx="6437376" cy="4608576"/>
          </a:xfrm>
          <a:prstGeom prst="roundRect">
            <a:avLst>
              <a:gd name="adj" fmla="val 158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22000"/>
              </a:srgbClr>
            </a:outerShdw>
          </a:effectLst>
        </p:spPr>
      </p:sp>
      <p:pic>
        <p:nvPicPr>
          <p:cNvPr id="4" name="Live offer page" descr="Live offer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6309360" cy="4480560"/>
          </a:xfrm>
          <a:prstGeom prst="rect">
            <a:avLst/>
          </a:prstGeom>
        </p:spPr>
      </p:pic>
      <p:sp>
        <p:nvSpPr>
          <p:cNvPr id="5" name="Live icon 1 circle"/>
          <p:cNvSpPr/>
          <p:nvPr/>
        </p:nvSpPr>
        <p:spPr>
          <a:xfrm>
            <a:off x="740664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Live icon 1 icon" descr="Live ico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660" y="1668780"/>
            <a:ext cx="320040" cy="320040"/>
          </a:xfrm>
          <a:prstGeom prst="rect">
            <a:avLst/>
          </a:prstGeom>
        </p:spPr>
      </p:pic>
      <p:sp>
        <p:nvSpPr>
          <p:cNvPr id="7" name="Live title 1"/>
          <p:cNvSpPr txBox="1"/>
          <p:nvPr/>
        </p:nvSpPr>
        <p:spPr>
          <a:xfrm>
            <a:off x="827532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The dealer's own address</a:t>
            </a:r>
            <a:endParaRPr lang="en-US" sz="1700" dirty="0"/>
          </a:p>
        </p:txBody>
      </p:sp>
      <p:sp>
        <p:nvSpPr>
          <p:cNvPr id="8" name="Live text 1"/>
          <p:cNvSpPr txBox="1"/>
          <p:nvPr/>
        </p:nvSpPr>
        <p:spPr>
          <a:xfrm>
            <a:off x="8275320" y="1874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subdomain in a real build, so the dealer's site links to it.</a:t>
            </a:r>
            <a:endParaRPr lang="en-US" sz="1400" dirty="0"/>
          </a:p>
        </p:txBody>
      </p:sp>
      <p:sp>
        <p:nvSpPr>
          <p:cNvPr id="9" name="Live icon 2 circle"/>
          <p:cNvSpPr/>
          <p:nvPr/>
        </p:nvSpPr>
        <p:spPr>
          <a:xfrm>
            <a:off x="7406640" y="2651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Live icon 2 icon" descr="Live icon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0" y="2811780"/>
            <a:ext cx="320040" cy="320040"/>
          </a:xfrm>
          <a:prstGeom prst="rect">
            <a:avLst/>
          </a:prstGeom>
        </p:spPr>
      </p:pic>
      <p:sp>
        <p:nvSpPr>
          <p:cNvPr id="11" name="Live title 2"/>
          <p:cNvSpPr txBox="1"/>
          <p:nvPr/>
        </p:nvSpPr>
        <p:spPr>
          <a:xfrm>
            <a:off x="8275320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Countdown, then it ends itself</a:t>
            </a:r>
            <a:endParaRPr lang="en-US" sz="1700" dirty="0"/>
          </a:p>
        </p:txBody>
      </p:sp>
      <p:sp>
        <p:nvSpPr>
          <p:cNvPr id="12" name="Live text 2"/>
          <p:cNvSpPr txBox="1"/>
          <p:nvPr/>
        </p:nvSpPr>
        <p:spPr>
          <a:xfrm>
            <a:off x="8275320" y="3017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page checks its end date on every request.</a:t>
            </a:r>
            <a:endParaRPr lang="en-US" sz="1400" dirty="0"/>
          </a:p>
        </p:txBody>
      </p:sp>
      <p:sp>
        <p:nvSpPr>
          <p:cNvPr id="13" name="Live icon 3 circle"/>
          <p:cNvSpPr/>
          <p:nvPr/>
        </p:nvSpPr>
        <p:spPr>
          <a:xfrm>
            <a:off x="7406640" y="3794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Live icon 3 icon" descr="Live icon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660" y="3954780"/>
            <a:ext cx="320040" cy="320040"/>
          </a:xfrm>
          <a:prstGeom prst="rect">
            <a:avLst/>
          </a:prstGeom>
        </p:spPr>
      </p:pic>
      <p:sp>
        <p:nvSpPr>
          <p:cNvPr id="15" name="Live title 3"/>
          <p:cNvSpPr txBox="1"/>
          <p:nvPr/>
        </p:nvSpPr>
        <p:spPr>
          <a:xfrm>
            <a:off x="827532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Enquiry form with consent</a:t>
            </a:r>
            <a:endParaRPr lang="en-US" sz="1700" dirty="0"/>
          </a:p>
        </p:txBody>
      </p:sp>
      <p:sp>
        <p:nvSpPr>
          <p:cNvPr id="16" name="Live text 3"/>
          <p:cNvSpPr txBox="1"/>
          <p:nvPr/>
        </p:nvSpPr>
        <p:spPr>
          <a:xfrm>
            <a:off x="8275320" y="4160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Leads are saved against the dealer.</a:t>
            </a:r>
            <a:endParaRPr lang="en-US" sz="1400" dirty="0"/>
          </a:p>
        </p:txBody>
      </p:sp>
      <p:sp>
        <p:nvSpPr>
          <p:cNvPr id="17" name="Live icon 4 circle"/>
          <p:cNvSpPr/>
          <p:nvPr/>
        </p:nvSpPr>
        <p:spPr>
          <a:xfrm>
            <a:off x="7406640" y="4937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Live icon 4 icon" descr="Live icon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6660" y="5097780"/>
            <a:ext cx="320040" cy="320040"/>
          </a:xfrm>
          <a:prstGeom prst="rect">
            <a:avLst/>
          </a:prstGeom>
        </p:spPr>
      </p:pic>
      <p:sp>
        <p:nvSpPr>
          <p:cNvPr id="19" name="Live title 4"/>
          <p:cNvSpPr txBox="1"/>
          <p:nvPr/>
        </p:nvSpPr>
        <p:spPr>
          <a:xfrm>
            <a:off x="827532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Undo in one click</a:t>
            </a:r>
            <a:endParaRPr lang="en-US" sz="1700" dirty="0"/>
          </a:p>
        </p:txBody>
      </p:sp>
      <p:sp>
        <p:nvSpPr>
          <p:cNvPr id="20" name="Live text 4"/>
          <p:cNvSpPr txBox="1"/>
          <p:nvPr/>
        </p:nvSpPr>
        <p:spPr>
          <a:xfrm>
            <a:off x="8275320" y="5303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Takes the page offline; the draft is kept.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HQ looks only at exceptions</a:t>
            </a:r>
            <a:endParaRPr lang="en-US" sz="3200" dirty="0"/>
          </a:p>
        </p:txBody>
      </p:sp>
      <p:sp>
        <p:nvSpPr>
          <p:cNvPr id="3" name="HQ exceptions frame"/>
          <p:cNvSpPr/>
          <p:nvPr/>
        </p:nvSpPr>
        <p:spPr>
          <a:xfrm>
            <a:off x="576072" y="1444752"/>
            <a:ext cx="6894576" cy="4105656"/>
          </a:xfrm>
          <a:prstGeom prst="roundRect">
            <a:avLst>
              <a:gd name="adj" fmla="val 1782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22000"/>
              </a:srgbClr>
            </a:outerShdw>
          </a:effectLst>
        </p:spPr>
      </p:sp>
      <p:pic>
        <p:nvPicPr>
          <p:cNvPr id="4" name="HQ exceptions" descr="HQ excep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6766560" cy="3977640"/>
          </a:xfrm>
          <a:prstGeom prst="rect">
            <a:avLst/>
          </a:prstGeom>
        </p:spPr>
      </p:pic>
      <p:sp>
        <p:nvSpPr>
          <p:cNvPr id="5" name="HQ headline"/>
          <p:cNvSpPr txBox="1"/>
          <p:nvPr/>
        </p:nvSpPr>
        <p:spPr>
          <a:xfrm>
            <a:off x="7818120" y="16002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Pages that pass go live on their own.</a:t>
            </a:r>
            <a:endParaRPr lang="en-US" sz="2400" dirty="0"/>
          </a:p>
        </p:txBody>
      </p:sp>
      <p:sp>
        <p:nvSpPr>
          <p:cNvPr id="6" name="HQ points"/>
          <p:cNvSpPr txBox="1"/>
          <p:nvPr/>
        </p:nvSpPr>
        <p:spPr>
          <a:xfrm>
            <a:off x="7818120" y="269748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Waiting for HQ: an over-limit discount, or finance wording.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Blocked: with the dealer to fix.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Approve and publish, or send back with a note.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Every action is logged: who, what and when.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Under the hood: one Next.js app with Payload inside</a:t>
            </a:r>
            <a:endParaRPr lang="en-US" sz="3200" dirty="0"/>
          </a:p>
        </p:txBody>
      </p:sp>
      <p:sp>
        <p:nvSpPr>
          <p:cNvPr id="3" name="Next.js project"/>
          <p:cNvSpPr/>
          <p:nvPr/>
        </p:nvSpPr>
        <p:spPr>
          <a:xfrm>
            <a:off x="640080" y="1508760"/>
            <a:ext cx="7680960" cy="4526280"/>
          </a:xfrm>
          <a:prstGeom prst="roundRect">
            <a:avLst>
              <a:gd name="adj" fmla="val 202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Project label"/>
          <p:cNvSpPr txBox="1"/>
          <p:nvPr/>
        </p:nvSpPr>
        <p:spPr>
          <a:xfrm>
            <a:off x="91440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ONE NEXT.JS PROJECT</a:t>
            </a:r>
            <a:endParaRPr lang="en-US" sz="1100" dirty="0"/>
          </a:p>
        </p:txBody>
      </p:sp>
      <p:sp>
        <p:nvSpPr>
          <p:cNvPr id="5" name="Arch box 1"/>
          <p:cNvSpPr/>
          <p:nvPr/>
        </p:nvSpPr>
        <p:spPr>
          <a:xfrm>
            <a:off x="914400" y="2057400"/>
            <a:ext cx="338328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Arch title 1"/>
          <p:cNvSpPr txBox="1"/>
          <p:nvPr/>
        </p:nvSpPr>
        <p:spPr>
          <a:xfrm>
            <a:off x="109728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Payload CMS</a:t>
            </a:r>
            <a:endParaRPr lang="en-US" sz="1700" dirty="0"/>
          </a:p>
        </p:txBody>
      </p:sp>
      <p:sp>
        <p:nvSpPr>
          <p:cNvPr id="7" name="Arch text 1"/>
          <p:cNvSpPr txBox="1"/>
          <p:nvPr/>
        </p:nvSpPr>
        <p:spPr>
          <a:xfrm>
            <a:off x="1097280" y="262432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Admin, logins and roles, drafts and versions, the API</a:t>
            </a:r>
            <a:endParaRPr lang="en-US" sz="1400" dirty="0"/>
          </a:p>
        </p:txBody>
      </p:sp>
      <p:sp>
        <p:nvSpPr>
          <p:cNvPr id="8" name="Arch box 2"/>
          <p:cNvSpPr/>
          <p:nvPr/>
        </p:nvSpPr>
        <p:spPr>
          <a:xfrm>
            <a:off x="4572000" y="2057400"/>
            <a:ext cx="338328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Arch title 2"/>
          <p:cNvSpPr txBox="1"/>
          <p:nvPr/>
        </p:nvSpPr>
        <p:spPr>
          <a:xfrm>
            <a:off x="475488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Dealer and HQ screens</a:t>
            </a:r>
            <a:endParaRPr lang="en-US" sz="1700" dirty="0"/>
          </a:p>
        </p:txBody>
      </p:sp>
      <p:sp>
        <p:nvSpPr>
          <p:cNvPr id="10" name="Arch text 2"/>
          <p:cNvSpPr txBox="1"/>
          <p:nvPr/>
        </p:nvSpPr>
        <p:spPr>
          <a:xfrm>
            <a:off x="4754880" y="262432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Our React components, inside the admin</a:t>
            </a:r>
            <a:endParaRPr lang="en-US" sz="1400" dirty="0"/>
          </a:p>
        </p:txBody>
      </p:sp>
      <p:sp>
        <p:nvSpPr>
          <p:cNvPr id="11" name="Arch box 3"/>
          <p:cNvSpPr/>
          <p:nvPr/>
        </p:nvSpPr>
        <p:spPr>
          <a:xfrm>
            <a:off x="914400" y="3566160"/>
            <a:ext cx="338328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Arch title 3"/>
          <p:cNvSpPr txBox="1"/>
          <p:nvPr/>
        </p:nvSpPr>
        <p:spPr>
          <a:xfrm>
            <a:off x="109728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Public dealer pages</a:t>
            </a:r>
            <a:endParaRPr lang="en-US" sz="1700" dirty="0"/>
          </a:p>
        </p:txBody>
      </p:sp>
      <p:sp>
        <p:nvSpPr>
          <p:cNvPr id="13" name="Arch text 3"/>
          <p:cNvSpPr txBox="1"/>
          <p:nvPr/>
        </p:nvSpPr>
        <p:spPr>
          <a:xfrm>
            <a:off x="1097280" y="41330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React, one component per block</a:t>
            </a:r>
            <a:endParaRPr lang="en-US" sz="1400" dirty="0"/>
          </a:p>
        </p:txBody>
      </p:sp>
      <p:sp>
        <p:nvSpPr>
          <p:cNvPr id="14" name="Arch box 4"/>
          <p:cNvSpPr/>
          <p:nvPr/>
        </p:nvSpPr>
        <p:spPr>
          <a:xfrm>
            <a:off x="4572000" y="3566160"/>
            <a:ext cx="338328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Arch title 4"/>
          <p:cNvSpPr txBox="1"/>
          <p:nvPr/>
        </p:nvSpPr>
        <p:spPr>
          <a:xfrm>
            <a:off x="475488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Rules and AI layer</a:t>
            </a:r>
            <a:endParaRPr lang="en-US" sz="1700" dirty="0"/>
          </a:p>
        </p:txBody>
      </p:sp>
      <p:sp>
        <p:nvSpPr>
          <p:cNvPr id="16" name="Arch text 4"/>
          <p:cNvSpPr txBox="1"/>
          <p:nvPr/>
        </p:nvSpPr>
        <p:spPr>
          <a:xfrm>
            <a:off x="4754880" y="41330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Fixed rules decide. The AI only adds findings</a:t>
            </a:r>
            <a:endParaRPr lang="en-US" sz="1400" dirty="0"/>
          </a:p>
        </p:txBody>
      </p:sp>
      <p:sp>
        <p:nvSpPr>
          <p:cNvPr id="17" name="Database box"/>
          <p:cNvSpPr/>
          <p:nvPr/>
        </p:nvSpPr>
        <p:spPr>
          <a:xfrm>
            <a:off x="914400" y="5120640"/>
            <a:ext cx="704088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Database text"/>
          <p:cNvSpPr txBox="1"/>
          <p:nvPr/>
        </p:nvSpPr>
        <p:spPr>
          <a:xfrm>
            <a:off x="1097280" y="51206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SQLite in the prototype; a production database in a real build</a:t>
            </a:r>
            <a:endParaRPr lang="en-US" sz="1500" dirty="0"/>
          </a:p>
        </p:txBody>
      </p:sp>
      <p:sp>
        <p:nvSpPr>
          <p:cNvPr id="19" name="AI arrow"/>
          <p:cNvSpPr/>
          <p:nvPr/>
        </p:nvSpPr>
        <p:spPr>
          <a:xfrm>
            <a:off x="8321040" y="4206240"/>
            <a:ext cx="5029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Claude box"/>
          <p:cNvSpPr/>
          <p:nvPr/>
        </p:nvSpPr>
        <p:spPr>
          <a:xfrm>
            <a:off x="8823960" y="3566160"/>
            <a:ext cx="2697480" cy="1325880"/>
          </a:xfrm>
          <a:prstGeom prst="roundRect">
            <a:avLst>
              <a:gd name="adj" fmla="val 551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Claude title"/>
          <p:cNvSpPr txBox="1"/>
          <p:nvPr/>
        </p:nvSpPr>
        <p:spPr>
          <a:xfrm>
            <a:off x="9006840" y="3703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Claude API</a:t>
            </a:r>
            <a:endParaRPr lang="en-US" sz="1700" dirty="0"/>
          </a:p>
        </p:txBody>
      </p:sp>
      <p:sp>
        <p:nvSpPr>
          <p:cNvPr id="22" name="Claude text"/>
          <p:cNvSpPr txBox="1"/>
          <p:nvPr/>
        </p:nvSpPr>
        <p:spPr>
          <a:xfrm>
            <a:off x="9006840" y="4114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Optional. The prototype runs in a rule-based stored mode.</a:t>
            </a:r>
            <a:endParaRPr lang="en-US" sz="1300" dirty="0"/>
          </a:p>
        </p:txBody>
      </p:sp>
      <p:sp>
        <p:nvSpPr>
          <p:cNvPr id="23" name="Arch points"/>
          <p:cNvSpPr txBox="1"/>
          <p:nvPr/>
        </p:nvSpPr>
        <p:spPr>
          <a:xfrm>
            <a:off x="8823960" y="16002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Payload is installed as a library, not run as a separate service.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admin screens are our own React.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is open source and self-hosted.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is real today, and what is not</a:t>
            </a:r>
            <a:endParaRPr lang="en-US" sz="3200" dirty="0"/>
          </a:p>
        </p:txBody>
      </p:sp>
      <p:sp>
        <p:nvSpPr>
          <p:cNvPr id="3" name="Column card 1"/>
          <p:cNvSpPr/>
          <p:nvPr/>
        </p:nvSpPr>
        <p:spPr>
          <a:xfrm>
            <a:off x="640080" y="1508760"/>
            <a:ext cx="5303520" cy="4526280"/>
          </a:xfrm>
          <a:prstGeom prst="roundRect">
            <a:avLst>
              <a:gd name="adj" fmla="val 202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lumn icon 1 circle"/>
          <p:cNvSpPr/>
          <p:nvPr/>
        </p:nvSpPr>
        <p:spPr>
          <a:xfrm>
            <a:off x="914400" y="17373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Column icon 1 icon" descr="Column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74520"/>
            <a:ext cx="274320" cy="274320"/>
          </a:xfrm>
          <a:prstGeom prst="rect">
            <a:avLst/>
          </a:prstGeom>
        </p:spPr>
      </p:pic>
      <p:sp>
        <p:nvSpPr>
          <p:cNvPr id="6" name="Column title 1"/>
          <p:cNvSpPr txBox="1"/>
          <p:nvPr/>
        </p:nvSpPr>
        <p:spPr>
          <a:xfrm>
            <a:off x="1645920" y="1737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Works in the prototype</a:t>
            </a:r>
            <a:endParaRPr lang="en-US" sz="2000" dirty="0"/>
          </a:p>
        </p:txBody>
      </p:sp>
      <p:sp>
        <p:nvSpPr>
          <p:cNvPr id="7" name="Column list 1"/>
          <p:cNvSpPr txBox="1"/>
          <p:nvPr/>
        </p:nvSpPr>
        <p:spPr>
          <a:xfrm>
            <a:off x="960120" y="25146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Dealer and HQ logins; a dealer sees only their own pages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Sentence, content type, three previews, publish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gate: claims, disclaimers, end date, terms, discount limit, finance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Change the offer on every page, as a diff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Live pages with countdown, expiry and an enquiry form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HQ exceptions with approve and send back, and an audit log</a:t>
            </a:r>
            <a:endParaRPr lang="en-US" sz="1600" dirty="0"/>
          </a:p>
        </p:txBody>
      </p:sp>
      <p:sp>
        <p:nvSpPr>
          <p:cNvPr id="8" name="Column card 2"/>
          <p:cNvSpPr/>
          <p:nvPr/>
        </p:nvSpPr>
        <p:spPr>
          <a:xfrm>
            <a:off x="6217920" y="1508760"/>
            <a:ext cx="5303520" cy="4526280"/>
          </a:xfrm>
          <a:prstGeom prst="roundRect">
            <a:avLst>
              <a:gd name="adj" fmla="val 202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olumn icon 2 circle"/>
          <p:cNvSpPr/>
          <p:nvPr/>
        </p:nvSpPr>
        <p:spPr>
          <a:xfrm>
            <a:off x="6492240" y="17373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Column icon 2 icon" descr="Column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874520"/>
            <a:ext cx="274320" cy="274320"/>
          </a:xfrm>
          <a:prstGeom prst="rect">
            <a:avLst/>
          </a:prstGeom>
        </p:spPr>
      </p:pic>
      <p:sp>
        <p:nvSpPr>
          <p:cNvPr id="11" name="Column title 2"/>
          <p:cNvSpPr txBox="1"/>
          <p:nvPr/>
        </p:nvSpPr>
        <p:spPr>
          <a:xfrm>
            <a:off x="7223760" y="1737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Not in the prototype</a:t>
            </a:r>
            <a:endParaRPr lang="en-US" sz="2000" dirty="0"/>
          </a:p>
        </p:txBody>
      </p:sp>
      <p:sp>
        <p:nvSpPr>
          <p:cNvPr id="12" name="Column list 2"/>
          <p:cNvSpPr txBox="1"/>
          <p:nvPr/>
        </p:nvSpPr>
        <p:spPr>
          <a:xfrm>
            <a:off x="6537960" y="25146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Dealer-system or CRM integration, stock and price feeds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 platforms and single sign-on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claims-library editor with versions and dates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 Nissan assets and photography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Live AI: the prototype runs in a rule-based mode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Approved claim wording: ours is adapted from Nissan UK figures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would make it pay for itself</a:t>
            </a:r>
            <a:endParaRPr lang="en-US" sz="3200" dirty="0"/>
          </a:p>
        </p:txBody>
      </p:sp>
      <p:sp>
        <p:nvSpPr>
          <p:cNvPr id="3" name="Metric card 1"/>
          <p:cNvSpPr/>
          <p:nvPr/>
        </p:nvSpPr>
        <p:spPr>
          <a:xfrm>
            <a:off x="640080" y="1645920"/>
            <a:ext cx="2606040" cy="320040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etric icon 1 circle"/>
          <p:cNvSpPr/>
          <p:nvPr/>
        </p:nvSpPr>
        <p:spPr>
          <a:xfrm>
            <a:off x="914400" y="19202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Metric icon 1 icon" descr="Metric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91690"/>
            <a:ext cx="342900" cy="342900"/>
          </a:xfrm>
          <a:prstGeom prst="rect">
            <a:avLst/>
          </a:prstGeom>
        </p:spPr>
      </p:pic>
      <p:sp>
        <p:nvSpPr>
          <p:cNvPr id="6" name="Metric title 1"/>
          <p:cNvSpPr txBox="1"/>
          <p:nvPr/>
        </p:nvSpPr>
        <p:spPr>
          <a:xfrm>
            <a:off x="914400" y="2834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Time to publish</a:t>
            </a:r>
            <a:endParaRPr lang="en-US" sz="1800" dirty="0"/>
          </a:p>
        </p:txBody>
      </p:sp>
      <p:sp>
        <p:nvSpPr>
          <p:cNvPr id="7" name="Metric text 1"/>
          <p:cNvSpPr txBox="1"/>
          <p:nvPr/>
        </p:nvSpPr>
        <p:spPr>
          <a:xfrm>
            <a:off x="914400" y="35204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Measured per page in the tool: minutes, not days.</a:t>
            </a:r>
            <a:endParaRPr lang="en-US" sz="1400" dirty="0"/>
          </a:p>
        </p:txBody>
      </p:sp>
      <p:sp>
        <p:nvSpPr>
          <p:cNvPr id="8" name="Metric card 2"/>
          <p:cNvSpPr/>
          <p:nvPr/>
        </p:nvSpPr>
        <p:spPr>
          <a:xfrm>
            <a:off x="3401568" y="1645920"/>
            <a:ext cx="2606040" cy="320040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etric icon 2 circle"/>
          <p:cNvSpPr/>
          <p:nvPr/>
        </p:nvSpPr>
        <p:spPr>
          <a:xfrm>
            <a:off x="3675888" y="19202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Metric icon 2 icon" descr="Metric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338" y="2091690"/>
            <a:ext cx="342900" cy="342900"/>
          </a:xfrm>
          <a:prstGeom prst="rect">
            <a:avLst/>
          </a:prstGeom>
        </p:spPr>
      </p:pic>
      <p:sp>
        <p:nvSpPr>
          <p:cNvPr id="11" name="Metric title 2"/>
          <p:cNvSpPr txBox="1"/>
          <p:nvPr/>
        </p:nvSpPr>
        <p:spPr>
          <a:xfrm>
            <a:off x="3675888" y="2834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HQ review effort</a:t>
            </a:r>
            <a:endParaRPr lang="en-US" sz="1800" dirty="0"/>
          </a:p>
        </p:txBody>
      </p:sp>
      <p:sp>
        <p:nvSpPr>
          <p:cNvPr id="12" name="Metric text 2"/>
          <p:cNvSpPr txBox="1"/>
          <p:nvPr/>
        </p:nvSpPr>
        <p:spPr>
          <a:xfrm>
            <a:off x="3675888" y="35204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Exceptions only. Track pages per HQ hour.</a:t>
            </a:r>
            <a:endParaRPr lang="en-US" sz="1400" dirty="0"/>
          </a:p>
        </p:txBody>
      </p:sp>
      <p:sp>
        <p:nvSpPr>
          <p:cNvPr id="13" name="Metric card 3"/>
          <p:cNvSpPr/>
          <p:nvPr/>
        </p:nvSpPr>
        <p:spPr>
          <a:xfrm>
            <a:off x="6163056" y="1645920"/>
            <a:ext cx="2606040" cy="320040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etric icon 3 circle"/>
          <p:cNvSpPr/>
          <p:nvPr/>
        </p:nvSpPr>
        <p:spPr>
          <a:xfrm>
            <a:off x="6437376" y="19202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Metric icon 3 icon" descr="Metric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826" y="2091690"/>
            <a:ext cx="342900" cy="342900"/>
          </a:xfrm>
          <a:prstGeom prst="rect">
            <a:avLst/>
          </a:prstGeom>
        </p:spPr>
      </p:pic>
      <p:sp>
        <p:nvSpPr>
          <p:cNvPr id="16" name="Metric title 3"/>
          <p:cNvSpPr txBox="1"/>
          <p:nvPr/>
        </p:nvSpPr>
        <p:spPr>
          <a:xfrm>
            <a:off x="6437376" y="2834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Compliance incidents</a:t>
            </a:r>
            <a:endParaRPr lang="en-US" sz="1800" dirty="0"/>
          </a:p>
        </p:txBody>
      </p:sp>
      <p:sp>
        <p:nvSpPr>
          <p:cNvPr id="17" name="Metric text 3"/>
          <p:cNvSpPr txBox="1"/>
          <p:nvPr/>
        </p:nvSpPr>
        <p:spPr>
          <a:xfrm>
            <a:off x="6437376" y="35204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Blocked before they go live. Track rework and breaches.</a:t>
            </a:r>
            <a:endParaRPr lang="en-US" sz="1400" dirty="0"/>
          </a:p>
        </p:txBody>
      </p:sp>
      <p:sp>
        <p:nvSpPr>
          <p:cNvPr id="18" name="Metric card 4"/>
          <p:cNvSpPr/>
          <p:nvPr/>
        </p:nvSpPr>
        <p:spPr>
          <a:xfrm>
            <a:off x="8924544" y="1645920"/>
            <a:ext cx="2606040" cy="320040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Metric icon 4 circle"/>
          <p:cNvSpPr/>
          <p:nvPr/>
        </p:nvSpPr>
        <p:spPr>
          <a:xfrm>
            <a:off x="9198864" y="19202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Metric icon 4 icon" descr="Metric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0314" y="2091690"/>
            <a:ext cx="342900" cy="342900"/>
          </a:xfrm>
          <a:prstGeom prst="rect">
            <a:avLst/>
          </a:prstGeom>
        </p:spPr>
      </p:pic>
      <p:sp>
        <p:nvSpPr>
          <p:cNvPr id="21" name="Metric title 4"/>
          <p:cNvSpPr txBox="1"/>
          <p:nvPr/>
        </p:nvSpPr>
        <p:spPr>
          <a:xfrm>
            <a:off x="9198864" y="2834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Leads to sales</a:t>
            </a:r>
            <a:endParaRPr lang="en-US" sz="1800" dirty="0"/>
          </a:p>
        </p:txBody>
      </p:sp>
      <p:sp>
        <p:nvSpPr>
          <p:cNvPr id="22" name="Metric text 4"/>
          <p:cNvSpPr txBox="1"/>
          <p:nvPr/>
        </p:nvSpPr>
        <p:spPr>
          <a:xfrm>
            <a:off x="9198864" y="35204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Leads saved per page; link to the dealer system to see sales.</a:t>
            </a:r>
            <a:endParaRPr lang="en-US" sz="1400" dirty="0"/>
          </a:p>
        </p:txBody>
      </p:sp>
      <p:sp>
        <p:nvSpPr>
          <p:cNvPr id="23" name="ROI panel"/>
          <p:cNvSpPr/>
          <p:nvPr/>
        </p:nvSpPr>
        <p:spPr>
          <a:xfrm>
            <a:off x="640080" y="5120640"/>
            <a:ext cx="10881360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ROI text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No ROI is claimed yet. A pilot supplies the baseline and the numbers.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Next: a pilot with real dealers</a:t>
            </a:r>
            <a:endParaRPr lang="en-US" sz="3200" dirty="0"/>
          </a:p>
        </p:txBody>
      </p:sp>
      <p:sp>
        <p:nvSpPr>
          <p:cNvPr id="3" name="Phase card 1"/>
          <p:cNvSpPr/>
          <p:nvPr/>
        </p:nvSpPr>
        <p:spPr>
          <a:xfrm>
            <a:off x="640080" y="1600200"/>
            <a:ext cx="2377440" cy="338328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hase marker 1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Phase number 1"/>
          <p:cNvSpPr txBox="1"/>
          <p:nvPr/>
        </p:nvSpPr>
        <p:spPr>
          <a:xfrm>
            <a:off x="9144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Phase title 1"/>
          <p:cNvSpPr txBox="1"/>
          <p:nvPr/>
        </p:nvSpPr>
        <p:spPr>
          <a:xfrm>
            <a:off x="91440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Prototype</a:t>
            </a:r>
            <a:endParaRPr lang="en-US" sz="2000" dirty="0"/>
          </a:p>
        </p:txBody>
      </p:sp>
      <p:sp>
        <p:nvSpPr>
          <p:cNvPr id="7" name="Phase when 1"/>
          <p:cNvSpPr txBox="1"/>
          <p:nvPr/>
        </p:nvSpPr>
        <p:spPr>
          <a:xfrm>
            <a:off x="914400" y="2971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Done</a:t>
            </a:r>
            <a:endParaRPr lang="en-US" sz="1400" dirty="0"/>
          </a:p>
        </p:txBody>
      </p:sp>
      <p:sp>
        <p:nvSpPr>
          <p:cNvPr id="8" name="Phase text 1"/>
          <p:cNvSpPr txBox="1"/>
          <p:nvPr/>
        </p:nvSpPr>
        <p:spPr>
          <a:xfrm>
            <a:off x="914400" y="342900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Dealer flow, the gate, HQ exceptions, three content types.</a:t>
            </a:r>
            <a:endParaRPr lang="en-US" sz="1400" dirty="0"/>
          </a:p>
        </p:txBody>
      </p:sp>
      <p:sp>
        <p:nvSpPr>
          <p:cNvPr id="9" name="Phase card 2"/>
          <p:cNvSpPr/>
          <p:nvPr/>
        </p:nvSpPr>
        <p:spPr>
          <a:xfrm>
            <a:off x="3154680" y="1600200"/>
            <a:ext cx="2377440" cy="338328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hase marker 2"/>
          <p:cNvSpPr/>
          <p:nvPr/>
        </p:nvSpPr>
        <p:spPr>
          <a:xfrm>
            <a:off x="342900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hase number 2"/>
          <p:cNvSpPr txBox="1"/>
          <p:nvPr/>
        </p:nvSpPr>
        <p:spPr>
          <a:xfrm>
            <a:off x="34290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Phase title 2"/>
          <p:cNvSpPr txBox="1"/>
          <p:nvPr/>
        </p:nvSpPr>
        <p:spPr>
          <a:xfrm>
            <a:off x="342900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Pilot</a:t>
            </a:r>
            <a:endParaRPr lang="en-US" sz="2000" dirty="0"/>
          </a:p>
        </p:txBody>
      </p:sp>
      <p:sp>
        <p:nvSpPr>
          <p:cNvPr id="13" name="Phase when 2"/>
          <p:cNvSpPr txBox="1"/>
          <p:nvPr/>
        </p:nvSpPr>
        <p:spPr>
          <a:xfrm>
            <a:off x="3429000" y="2971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10 dealers, 8 weeks</a:t>
            </a:r>
            <a:endParaRPr lang="en-US" sz="1400" dirty="0"/>
          </a:p>
        </p:txBody>
      </p:sp>
      <p:sp>
        <p:nvSpPr>
          <p:cNvPr id="14" name="Phase text 2"/>
          <p:cNvSpPr txBox="1"/>
          <p:nvPr/>
        </p:nvSpPr>
        <p:spPr>
          <a:xfrm>
            <a:off x="3429000" y="342900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Real claims library. Leads into the dealer system. One platform subdomain. Measure the baseline.</a:t>
            </a:r>
            <a:endParaRPr lang="en-US" sz="1400" dirty="0"/>
          </a:p>
        </p:txBody>
      </p:sp>
      <p:sp>
        <p:nvSpPr>
          <p:cNvPr id="15" name="Phase card 3"/>
          <p:cNvSpPr/>
          <p:nvPr/>
        </p:nvSpPr>
        <p:spPr>
          <a:xfrm>
            <a:off x="5669280" y="1600200"/>
            <a:ext cx="2377440" cy="338328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hase marker 3"/>
          <p:cNvSpPr/>
          <p:nvPr/>
        </p:nvSpPr>
        <p:spPr>
          <a:xfrm>
            <a:off x="5943600" y="18745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Phase number 3"/>
          <p:cNvSpPr txBox="1"/>
          <p:nvPr/>
        </p:nvSpPr>
        <p:spPr>
          <a:xfrm>
            <a:off x="59436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Phase title 3"/>
          <p:cNvSpPr txBox="1"/>
          <p:nvPr/>
        </p:nvSpPr>
        <p:spPr>
          <a:xfrm>
            <a:off x="594360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Network</a:t>
            </a:r>
            <a:endParaRPr lang="en-US" sz="2000" dirty="0"/>
          </a:p>
        </p:txBody>
      </p:sp>
      <p:sp>
        <p:nvSpPr>
          <p:cNvPr id="19" name="Phase when 3"/>
          <p:cNvSpPr txBox="1"/>
          <p:nvPr/>
        </p:nvSpPr>
        <p:spPr>
          <a:xfrm>
            <a:off x="5943600" y="2971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Later</a:t>
            </a:r>
            <a:endParaRPr lang="en-US" sz="1400" dirty="0"/>
          </a:p>
        </p:txBody>
      </p:sp>
      <p:sp>
        <p:nvSpPr>
          <p:cNvPr id="20" name="Phase text 3"/>
          <p:cNvSpPr txBox="1"/>
          <p:nvPr/>
        </p:nvSpPr>
        <p:spPr>
          <a:xfrm>
            <a:off x="5943600" y="342900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Single sign-on, stock feeds, more content types, ad platforms.</a:t>
            </a:r>
            <a:endParaRPr lang="en-US" sz="1400" dirty="0"/>
          </a:p>
        </p:txBody>
      </p:sp>
      <p:sp>
        <p:nvSpPr>
          <p:cNvPr id="21" name="Decisions title"/>
          <p:cNvSpPr txBox="1"/>
          <p:nvPr/>
        </p:nvSpPr>
        <p:spPr>
          <a:xfrm>
            <a:off x="832104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Decisions we need</a:t>
            </a:r>
            <a:endParaRPr lang="en-US" sz="2000" dirty="0"/>
          </a:p>
        </p:txBody>
      </p:sp>
      <p:sp>
        <p:nvSpPr>
          <p:cNvPr id="22" name="Decisions list"/>
          <p:cNvSpPr txBox="1"/>
          <p:nvPr/>
        </p:nvSpPr>
        <p:spPr>
          <a:xfrm>
            <a:off x="8321040" y="219456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Which dealer platform do dealers use today?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Who owns the claims library?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Can dealers publish on a subdomain?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is the finance policy?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Dealers move fast. HQ keeps control.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297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Next step: try it with a handful of real dealers.</a:t>
            </a:r>
            <a:endParaRPr lang="en-US" sz="2200" dirty="0"/>
          </a:p>
        </p:txBody>
      </p:sp>
      <p:sp>
        <p:nvSpPr>
          <p:cNvPr id="4" name="Disclaimer"/>
          <p:cNvSpPr txBox="1"/>
          <p:nvPr/>
        </p:nvSpPr>
        <p:spPr>
          <a:xfrm>
            <a:off x="731520" y="57607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Prototype with illustrative content. Claim wording is adapted from published Nissan UK figures and is not approved copy.</a:t>
            </a:r>
            <a:endParaRPr lang="en-US" sz="1200" dirty="0"/>
          </a:p>
        </p:txBody>
      </p:sp>
      <p:sp>
        <p:nvSpPr>
          <p:cNvPr id="5" name="Enquiry form frame"/>
          <p:cNvSpPr/>
          <p:nvPr/>
        </p:nvSpPr>
        <p:spPr>
          <a:xfrm>
            <a:off x="6519672" y="1536192"/>
            <a:ext cx="5157216" cy="3511296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22000"/>
              </a:srgbClr>
            </a:outerShdw>
          </a:effectLst>
        </p:spPr>
      </p:sp>
      <p:pic>
        <p:nvPicPr>
          <p:cNvPr id="6" name="Enquiry form" descr="Enquiry 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5029200" cy="3383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udio Red">
  <a:themeElements>
    <a:clrScheme name="Studio Red">
      <a:dk1>
        <a:srgbClr val="0F1114"/>
      </a:dk1>
      <a:lt1>
        <a:srgbClr val="FFFFFF"/>
      </a:lt1>
      <a:dk2>
        <a:srgbClr val="1E2530"/>
      </a:dk2>
      <a:lt2>
        <a:srgbClr val="F2F3F5"/>
      </a:lt2>
      <a:accent1>
        <a:srgbClr val="C3002F"/>
      </a:accent1>
      <a:accent2>
        <a:srgbClr val="8F0022"/>
      </a:accent2>
      <a:accent3>
        <a:srgbClr val="5B6470"/>
      </a:accent3>
      <a:accent4>
        <a:srgbClr val="E0A030"/>
      </a:accent4>
      <a:accent5>
        <a:srgbClr val="1F8A4C"/>
      </a:accent5>
      <a:accent6>
        <a:srgbClr val="B7BEC8"/>
      </a:accent6>
      <a:hlink>
        <a:srgbClr val="C3002F"/>
      </a:hlink>
      <a:folHlink>
        <a:srgbClr val="8F0022"/>
      </a:folHlink>
    </a:clrScheme>
    <a:fontScheme name="Studio Re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Content Studio</dc:title>
  <dc:subject>One-click, rule-checked publishing for Nissan dealers (prototype, illustrative content)</dc:subject>
  <dc:creator>AI Content Studio prototype</dc:creator>
  <cp:lastModifiedBy>AI Content Studio prototype</cp:lastModifiedBy>
  <cp:revision>1</cp:revision>
  <dcterms:created xsi:type="dcterms:W3CDTF">2026-10-15T16:33:57Z</dcterms:created>
  <dcterms:modified xsi:type="dcterms:W3CDTF">2026-10-15T16:33:57Z</dcterms:modified>
</cp:coreProperties>
</file>